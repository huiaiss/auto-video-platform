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8"/>
  </p:handoutMasterIdLst>
  <p:sldIdLst>
    <p:sldId id="459" r:id="rId3"/>
    <p:sldId id="261" r:id="rId4"/>
    <p:sldId id="377" r:id="rId6"/>
    <p:sldId id="441" r:id="rId7"/>
    <p:sldId id="321" r:id="rId8"/>
    <p:sldId id="383" r:id="rId9"/>
    <p:sldId id="335" r:id="rId10"/>
    <p:sldId id="336" r:id="rId11"/>
    <p:sldId id="424" r:id="rId12"/>
    <p:sldId id="382" r:id="rId13"/>
    <p:sldId id="378" r:id="rId14"/>
    <p:sldId id="412" r:id="rId15"/>
    <p:sldId id="474" r:id="rId16"/>
    <p:sldId id="433" r:id="rId17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276" y="78"/>
      </p:cViewPr>
      <p:guideLst>
        <p:guide orient="horz" pos="2110"/>
        <p:guide pos="28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3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C5F0B-CC46-4C0E-9D1D-BA039297C2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CC16A-0A30-46F0-91FA-ECD8791895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A3FE0-5D60-4364-8898-0BBEF87AED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C4BE5-EC8D-4861-8BE0-364EC12D82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专业</a:t>
            </a:r>
            <a:r>
              <a:rPr lang="en-US" altLang="zh-CN" smtClean="0"/>
              <a:t>•</a:t>
            </a:r>
            <a:r>
              <a:rPr lang="zh-CN" altLang="en-US" smtClean="0"/>
              <a:t>服务</a:t>
            </a:r>
            <a:r>
              <a:rPr lang="en-US" altLang="zh-CN" smtClean="0"/>
              <a:t>•</a:t>
            </a:r>
            <a:r>
              <a:rPr lang="zh-CN" altLang="en-US" smtClean="0"/>
              <a:t>创造价值                     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AC65-D900-44A2-A393-0F7FDF6440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472F-31FE-42B1-B071-3843A2335F6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D8DD-BF23-4261-8B07-821A6C844A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2629-C24A-4399-9E39-BC7EA6A844E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CF7A4-1D25-43A5-9D1E-5A646660D5F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1C8D1-79A1-420A-A0EE-239B9223572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2AEB-0FFC-47A7-94D6-5693A4FE946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20B1-BAA9-4DA3-8CA1-4692F2F42B2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2BD-79ED-46D9-9DDE-34ECA1F93ED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AF0A-90B3-41F2-A270-A897618E14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A8DC-DBD1-45A0-A0AF-6C2B49B92B0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E3AE0-313D-4FB2-A63B-C79879BC8F0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38E2C-356E-404E-A91B-A687CC804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内容占位符 2"/>
          <p:cNvSpPr>
            <a:spLocks noGrp="1"/>
          </p:cNvSpPr>
          <p:nvPr/>
        </p:nvSpPr>
        <p:spPr>
          <a:xfrm>
            <a:off x="612140" y="911860"/>
            <a:ext cx="8229600" cy="49510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zh-CN" dirty="0" smtClean="0"/>
          </a:p>
          <a:p>
            <a:pPr marL="0" indent="0" algn="ctr">
              <a:buNone/>
            </a:pPr>
            <a:r>
              <a:rPr lang="zh-CN" dirty="0" smtClean="0"/>
              <a:t>双工位内绕</a:t>
            </a:r>
            <a:r>
              <a:rPr lang="zh-CN" altLang="en-US" dirty="0" smtClean="0"/>
              <a:t>绕线机方案书</a:t>
            </a:r>
            <a:r>
              <a:rPr lang="en-US" altLang="zh-CN" dirty="0" smtClean="0"/>
              <a:t>	</a:t>
            </a:r>
            <a:endParaRPr lang="en-US" altLang="zh-CN" dirty="0" smtClean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dirty="0" smtClean="0"/>
              <a:t>台州隆江自动化设备有限公司</a:t>
            </a:r>
            <a:endParaRPr lang="zh-CN" altLang="en-US" dirty="0" smtClean="0"/>
          </a:p>
          <a:p>
            <a:pPr marL="0" indent="0" algn="ctr">
              <a:buNone/>
            </a:pPr>
            <a:endParaRPr lang="zh-CN" altLang="en-US" sz="2000" dirty="0" smtClean="0"/>
          </a:p>
          <a:p>
            <a:pPr marL="0" indent="0" algn="ctr">
              <a:buNone/>
            </a:pPr>
            <a:r>
              <a:rPr lang="zh-CN" altLang="en-US" sz="2000" dirty="0" smtClean="0">
                <a:sym typeface="+mn-ea"/>
              </a:rPr>
              <a:t>台州市椒江区刘洋工业区</a:t>
            </a:r>
            <a:r>
              <a:rPr lang="zh-CN" sz="2000" dirty="0" smtClean="0">
                <a:sym typeface="+mn-ea"/>
              </a:rPr>
              <a:t>广兴西路</a:t>
            </a:r>
            <a:r>
              <a:rPr lang="en-US" altLang="zh-CN" sz="2000" dirty="0" smtClean="0">
                <a:sym typeface="+mn-ea"/>
              </a:rPr>
              <a:t>359</a:t>
            </a:r>
            <a:r>
              <a:rPr lang="zh-CN" altLang="en-US" sz="2000" dirty="0" smtClean="0">
                <a:sym typeface="+mn-ea"/>
              </a:rPr>
              <a:t>号</a:t>
            </a:r>
            <a:endParaRPr lang="en-US" altLang="zh-CN" sz="2000" dirty="0" smtClean="0"/>
          </a:p>
          <a:p>
            <a:pPr marL="0" indent="0" algn="ctr">
              <a:buNone/>
            </a:pPr>
            <a:endParaRPr lang="zh-CN" altLang="en-US" sz="2000" dirty="0" smtClean="0"/>
          </a:p>
          <a:p>
            <a:pPr marL="0" indent="0" algn="ctr">
              <a:buNone/>
            </a:pPr>
            <a:endParaRPr lang="en-US" altLang="zh-CN" sz="2000" dirty="0" smtClean="0"/>
          </a:p>
          <a:p>
            <a:pPr marL="0" indent="0" algn="ctr">
              <a:buNone/>
            </a:pP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                                   </a:t>
            </a:r>
            <a:endParaRPr lang="en-US" altLang="zh-CN" sz="20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937260"/>
            <a:ext cx="5361305" cy="5577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7928" y="477173"/>
            <a:ext cx="4780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 smtClean="0">
                <a:latin typeface="+mj-ea"/>
                <a:ea typeface="+mj-ea"/>
                <a:cs typeface="+mj-ea"/>
              </a:rPr>
              <a:t> LJ-7HS</a:t>
            </a:r>
            <a:r>
              <a:rPr lang="zh-CN" sz="2400" b="1" dirty="0" smtClean="0">
                <a:latin typeface="+mj-ea"/>
                <a:ea typeface="+mj-ea"/>
                <a:cs typeface="+mj-ea"/>
              </a:rPr>
              <a:t>双工位</a:t>
            </a:r>
            <a:r>
              <a:rPr lang="en-US" altLang="zh-CN" sz="2400" b="1" dirty="0" smtClean="0">
                <a:latin typeface="+mj-ea"/>
                <a:ea typeface="+mj-ea"/>
                <a:cs typeface="+mj-ea"/>
              </a:rPr>
              <a:t>400</a:t>
            </a:r>
            <a:r>
              <a:rPr lang="zh-CN" altLang="en-US" sz="2400" b="1" dirty="0" smtClean="0">
                <a:latin typeface="+mj-ea"/>
                <a:ea typeface="+mj-ea"/>
                <a:cs typeface="+mj-ea"/>
              </a:rPr>
              <a:t>中心</a:t>
            </a:r>
            <a:r>
              <a:rPr lang="zh-CN" sz="2400" b="1" dirty="0" smtClean="0">
                <a:latin typeface="+mj-ea"/>
                <a:ea typeface="+mj-ea"/>
                <a:cs typeface="+mj-ea"/>
              </a:rPr>
              <a:t>绕线机</a:t>
            </a:r>
            <a:r>
              <a:rPr lang="zh-CN" altLang="en-US" sz="2400" b="1" dirty="0" smtClean="0">
                <a:latin typeface="+mj-ea"/>
                <a:ea typeface="+mj-ea"/>
                <a:cs typeface="+mj-ea"/>
              </a:rPr>
              <a:t>方案</a:t>
            </a:r>
            <a:endParaRPr lang="zh-CN" altLang="en-US" sz="2400" b="1" dirty="0" smtClean="0">
              <a:latin typeface="+mj-ea"/>
              <a:ea typeface="+mj-ea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9235" y="22586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000" y="548680"/>
            <a:ext cx="912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一、设备功能与工作流程</a:t>
            </a:r>
            <a:endParaRPr lang="zh-CN" altLang="en-US" b="1" dirty="0" smtClean="0"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850" y="1268730"/>
            <a:ext cx="8188960" cy="5400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 dirty="0"/>
              <a:t>1.1</a:t>
            </a:r>
            <a:r>
              <a:rPr lang="en-US" altLang="zh-CN" sz="1400" dirty="0"/>
              <a:t> </a:t>
            </a:r>
            <a:r>
              <a:rPr lang="zh-CN" altLang="en-US" sz="1400" dirty="0"/>
              <a:t>设备功能说明	   </a:t>
            </a:r>
            <a:endParaRPr lang="en-US" altLang="zh-CN" sz="1400" dirty="0" smtClean="0"/>
          </a:p>
          <a:p>
            <a:endParaRPr lang="zh-CN" altLang="en-US" sz="1400" dirty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广泛应用于各类永磁直流电机、电机制造绕线；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ym typeface="+mn-ea"/>
              </a:rPr>
              <a:t>首末端自动</a:t>
            </a:r>
            <a:r>
              <a:rPr lang="zh-CN" altLang="en-US" sz="1400" dirty="0">
                <a:sym typeface="+mn-ea"/>
              </a:rPr>
              <a:t>预留定长</a:t>
            </a:r>
            <a:r>
              <a:rPr lang="zh-CN" altLang="en-US" sz="1400" dirty="0" smtClean="0">
                <a:sym typeface="+mn-ea"/>
              </a:rPr>
              <a:t>线头；</a:t>
            </a:r>
            <a:endParaRPr lang="zh-CN" altLang="en-US" sz="1400" dirty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ym typeface="+mn-ea"/>
              </a:rPr>
              <a:t>自动</a:t>
            </a:r>
            <a:r>
              <a:rPr lang="zh-CN" altLang="en-US" sz="1400" dirty="0">
                <a:sym typeface="+mn-ea"/>
              </a:rPr>
              <a:t>绕线</a:t>
            </a:r>
            <a:r>
              <a:rPr lang="zh-CN" altLang="en-US" sz="1400" dirty="0" smtClean="0">
                <a:sym typeface="+mn-ea"/>
              </a:rPr>
              <a:t>，自动分度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ym typeface="+mn-ea"/>
              </a:rPr>
              <a:t>自动</a:t>
            </a:r>
            <a:r>
              <a:rPr lang="zh-CN" altLang="en-US" sz="1400" dirty="0">
                <a:sym typeface="+mn-ea"/>
              </a:rPr>
              <a:t>夹剪</a:t>
            </a:r>
            <a:r>
              <a:rPr lang="zh-CN" altLang="en-US" sz="1400" dirty="0" smtClean="0">
                <a:sym typeface="+mn-ea"/>
              </a:rPr>
              <a:t>线（预留线头时按工艺需求预留长度）；</a:t>
            </a:r>
            <a:r>
              <a:rPr lang="en-US" altLang="zh-CN" sz="1400" dirty="0" smtClean="0">
                <a:sym typeface="+mn-ea"/>
              </a:rPr>
              <a:t>	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排线整齐、节省人力、材料（漆包线）；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采用台湾</a:t>
            </a:r>
            <a:r>
              <a:rPr lang="en-US" altLang="zh-CN" sz="1400" dirty="0" smtClean="0"/>
              <a:t>5</a:t>
            </a:r>
            <a:r>
              <a:rPr lang="zh-CN" altLang="en-US" sz="1400" dirty="0" smtClean="0"/>
              <a:t>轴联动数控系统控制；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手摇轮精度调机，调试方便、人性化；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机械配有定子定位装置，定子拉紧装置，自动剪线装置，断线检测装置；</a:t>
            </a:r>
            <a:endParaRPr lang="zh-CN" altLang="en-US" sz="1400" dirty="0" smtClean="0"/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机械结构设计合理，使设备运行速度更快、噪音更小、寿命更长、性能更加稳定、更易维护。</a:t>
            </a:r>
            <a:endParaRPr lang="zh-CN" altLang="en-US" sz="1400" dirty="0" smtClean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400" dirty="0" smtClean="0"/>
          </a:p>
          <a:p>
            <a:r>
              <a:rPr lang="en-US" altLang="zh-CN" sz="1400" dirty="0"/>
              <a:t>	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000" y="548680"/>
            <a:ext cx="912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一、设备功能与工作流程</a:t>
            </a:r>
            <a:endParaRPr lang="zh-CN" altLang="en-US" b="1" dirty="0" smtClean="0">
              <a:latin typeface="+mj-lt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11505" y="1196340"/>
            <a:ext cx="7978775" cy="543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+mj-ea"/>
              <a:buNone/>
            </a:pPr>
            <a:r>
              <a:rPr lang="en-US" altLang="zh-CN" sz="1400" dirty="0" smtClean="0"/>
              <a:t>1.3 </a:t>
            </a:r>
            <a:r>
              <a:rPr lang="zh-CN" altLang="en-US" sz="1400" dirty="0" smtClean="0"/>
              <a:t>设备工作流程</a:t>
            </a:r>
            <a:endParaRPr lang="zh-CN" altLang="en-US" sz="1400" dirty="0" smtClean="0"/>
          </a:p>
          <a:p>
            <a:pPr indent="0">
              <a:buFont typeface="+mj-ea"/>
              <a:buNone/>
            </a:pPr>
            <a:endParaRPr lang="zh-CN" altLang="en-US" sz="1400" dirty="0" smtClean="0"/>
          </a:p>
          <a:p>
            <a:pPr indent="0">
              <a:buFont typeface="+mj-ea"/>
              <a:buNone/>
            </a:pPr>
            <a:endParaRPr lang="en-US" altLang="zh-CN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/>
              <a:t>人工放入未绕定子，放进绕线模具里面；</a:t>
            </a: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/>
              <a:t>按下启动按钮，</a:t>
            </a:r>
            <a:r>
              <a:rPr lang="zh-CN" altLang="en-US" sz="1400" dirty="0" smtClean="0">
                <a:sym typeface="+mn-ea"/>
              </a:rPr>
              <a:t>进行自动绕脚；</a:t>
            </a: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endParaRPr lang="en-US" altLang="zh-CN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>
                <a:sym typeface="+mn-ea"/>
              </a:rPr>
              <a:t>开始绕线；</a:t>
            </a:r>
            <a:endParaRPr lang="zh-CN" altLang="en-US" sz="1400" dirty="0" smtClean="0">
              <a:sym typeface="+mn-ea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zh-CN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/>
              <a:t>然后绕第一极的第一槽，等绕好第一槽然后垮到第一极的第二槽；</a:t>
            </a: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/>
              <a:t>绕好第一极再垮第二极的第一槽，绕好垮到第二极的第二槽；</a:t>
            </a: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>
                <a:sym typeface="+mn-ea"/>
              </a:rPr>
              <a:t>全部绕完再自动剪线，拉线；</a:t>
            </a:r>
            <a:endParaRPr lang="zh-CN" altLang="en-US" sz="1400" dirty="0" smtClean="0">
              <a:sym typeface="+mn-ea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zh-CN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/>
              <a:t>然后手工剪断垮桥线，拿出线圈定子；</a:t>
            </a:r>
            <a:endParaRPr lang="zh-CN" altLang="en-US" sz="1400" dirty="0" smtClean="0"/>
          </a:p>
          <a:p>
            <a:pPr marL="342900" indent="-342900">
              <a:buFont typeface="+mj-ea"/>
              <a:buAutoNum type="circleNumDbPlain"/>
            </a:pPr>
            <a:endParaRPr lang="en-US" altLang="zh-CN" sz="1400" dirty="0" smtClean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 smtClean="0"/>
              <a:t>工作完成；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440" y="476885"/>
            <a:ext cx="5361305" cy="5577205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7092201" y="4724836"/>
            <a:ext cx="936104" cy="360040"/>
          </a:xfrm>
          <a:prstGeom prst="wedgeRoundRectCallout">
            <a:avLst>
              <a:gd name="adj1" fmla="val -283812"/>
              <a:gd name="adj2" fmla="val -23989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操作台</a:t>
            </a:r>
            <a:endParaRPr lang="zh-CN" altLang="en-US" sz="1200" b="1" dirty="0" smtClean="0"/>
          </a:p>
        </p:txBody>
      </p:sp>
      <p:sp>
        <p:nvSpPr>
          <p:cNvPr id="10" name="圆角矩形标注 9"/>
          <p:cNvSpPr/>
          <p:nvPr/>
        </p:nvSpPr>
        <p:spPr>
          <a:xfrm>
            <a:off x="7380605" y="2709190"/>
            <a:ext cx="935990" cy="513715"/>
          </a:xfrm>
          <a:prstGeom prst="wedgeRoundRectCallout">
            <a:avLst>
              <a:gd name="adj1" fmla="val -137584"/>
              <a:gd name="adj2" fmla="val 19413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启动按钮</a:t>
            </a:r>
            <a:endParaRPr lang="zh-CN" altLang="en-US" sz="1200" b="1" dirty="0" smtClean="0"/>
          </a:p>
        </p:txBody>
      </p:sp>
      <p:sp>
        <p:nvSpPr>
          <p:cNvPr id="13" name="圆角矩形标注 12"/>
          <p:cNvSpPr/>
          <p:nvPr/>
        </p:nvSpPr>
        <p:spPr>
          <a:xfrm>
            <a:off x="3852193" y="4869210"/>
            <a:ext cx="946150" cy="360045"/>
          </a:xfrm>
          <a:prstGeom prst="wedgeRoundRectCallout">
            <a:avLst>
              <a:gd name="adj1" fmla="val -2311"/>
              <a:gd name="adj2" fmla="val -39251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sz="1200" b="1" dirty="0" smtClean="0"/>
              <a:t>夹具工装</a:t>
            </a:r>
            <a:endParaRPr lang="zh-CN" sz="1200" b="1" dirty="0" smtClean="0"/>
          </a:p>
        </p:txBody>
      </p:sp>
      <p:sp>
        <p:nvSpPr>
          <p:cNvPr id="12" name="文本框 11"/>
          <p:cNvSpPr txBox="1"/>
          <p:nvPr/>
        </p:nvSpPr>
        <p:spPr>
          <a:xfrm>
            <a:off x="17780" y="658241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外观为示意，以</a:t>
            </a:r>
            <a:r>
              <a:rPr lang="zh-CN" altLang="en-US" sz="1200"/>
              <a:t>实际为准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7226935" y="24803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1259726" y="2564895"/>
            <a:ext cx="936104" cy="360040"/>
          </a:xfrm>
          <a:prstGeom prst="wedgeRoundRectCallout">
            <a:avLst>
              <a:gd name="adj1" fmla="val 238986"/>
              <a:gd name="adj2" fmla="val 286123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 smtClean="0"/>
              <a:t>剪刀机构</a:t>
            </a:r>
            <a:endParaRPr lang="zh-CN" altLang="en-US" sz="1200" b="1" dirty="0" smtClean="0"/>
          </a:p>
        </p:txBody>
      </p:sp>
      <p:sp>
        <p:nvSpPr>
          <p:cNvPr id="11" name="圆角矩形标注 10"/>
          <p:cNvSpPr/>
          <p:nvPr/>
        </p:nvSpPr>
        <p:spPr>
          <a:xfrm>
            <a:off x="7164705" y="1197255"/>
            <a:ext cx="935990" cy="513715"/>
          </a:xfrm>
          <a:prstGeom prst="wedgeRoundRectCallout">
            <a:avLst>
              <a:gd name="adj1" fmla="val -137584"/>
              <a:gd name="adj2" fmla="val 243888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 smtClean="0"/>
              <a:t>控制面板</a:t>
            </a:r>
            <a:endParaRPr lang="zh-CN" altLang="en-US" sz="1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895" y="621030"/>
            <a:ext cx="4890135" cy="5973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" y="548680"/>
            <a:ext cx="9126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</a:rPr>
              <a:t>四</a:t>
            </a:r>
            <a:r>
              <a:rPr lang="zh-CN" altLang="en-US" b="1" dirty="0" smtClean="0">
                <a:latin typeface="+mj-lt"/>
              </a:rPr>
              <a:t>、设备外观示意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4.2 </a:t>
            </a:r>
            <a:r>
              <a:rPr lang="zh-CN" altLang="en-US" b="1" dirty="0" smtClean="0">
                <a:latin typeface="+mj-lt"/>
              </a:rPr>
              <a:t>侧面示意</a:t>
            </a:r>
            <a:endParaRPr lang="en-US" altLang="zh-CN" dirty="0" smtClean="0">
              <a:latin typeface="+mj-lt"/>
            </a:endParaRPr>
          </a:p>
          <a:p>
            <a:endParaRPr lang="zh-CN" altLang="en-US" dirty="0"/>
          </a:p>
        </p:txBody>
      </p:sp>
      <p:sp>
        <p:nvSpPr>
          <p:cNvPr id="6" name="圆角矩形标注 5"/>
          <p:cNvSpPr/>
          <p:nvPr>
            <p:custDataLst>
              <p:tags r:id="rId2"/>
            </p:custDataLst>
          </p:nvPr>
        </p:nvSpPr>
        <p:spPr>
          <a:xfrm>
            <a:off x="1043305" y="6021070"/>
            <a:ext cx="1424940" cy="424180"/>
          </a:xfrm>
          <a:prstGeom prst="wedgeRoundRectCallout">
            <a:avLst>
              <a:gd name="adj1" fmla="val 124420"/>
              <a:gd name="adj2" fmla="val -185928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/>
              <a:t>X</a:t>
            </a:r>
            <a:r>
              <a:rPr lang="zh-CN" altLang="en-US" sz="1200" b="1" dirty="0" smtClean="0"/>
              <a:t>轴左右移动组件</a:t>
            </a:r>
            <a:endParaRPr lang="zh-CN" altLang="en-US" sz="1200" b="1" dirty="0" smtClean="0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17780" y="658241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外观为示意，以</a:t>
            </a:r>
            <a:r>
              <a:rPr lang="zh-CN" altLang="en-US" sz="1200"/>
              <a:t>实际为准</a:t>
            </a:r>
            <a:endParaRPr lang="zh-CN" altLang="en-US" sz="1200"/>
          </a:p>
        </p:txBody>
      </p:sp>
      <p:sp>
        <p:nvSpPr>
          <p:cNvPr id="8" name="圆角矩形标注 7"/>
          <p:cNvSpPr/>
          <p:nvPr>
            <p:custDataLst>
              <p:tags r:id="rId4"/>
            </p:custDataLst>
          </p:nvPr>
        </p:nvSpPr>
        <p:spPr>
          <a:xfrm>
            <a:off x="2555789" y="908685"/>
            <a:ext cx="1296298" cy="424497"/>
          </a:xfrm>
          <a:prstGeom prst="wedgeRoundRectCallout">
            <a:avLst>
              <a:gd name="adj1" fmla="val 56697"/>
              <a:gd name="adj2" fmla="val 28463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 dirty="0" smtClean="0"/>
              <a:t>飞叉旋转组件</a:t>
            </a:r>
            <a:endParaRPr lang="zh-CN" sz="1200" b="1" dirty="0" smtClean="0"/>
          </a:p>
        </p:txBody>
      </p:sp>
      <p:sp>
        <p:nvSpPr>
          <p:cNvPr id="9" name="圆角矩形标注 8"/>
          <p:cNvSpPr/>
          <p:nvPr>
            <p:custDataLst>
              <p:tags r:id="rId5"/>
            </p:custDataLst>
          </p:nvPr>
        </p:nvSpPr>
        <p:spPr>
          <a:xfrm>
            <a:off x="1043219" y="1700530"/>
            <a:ext cx="1296298" cy="424497"/>
          </a:xfrm>
          <a:prstGeom prst="wedgeRoundRectCallout">
            <a:avLst>
              <a:gd name="adj1" fmla="val 56697"/>
              <a:gd name="adj2" fmla="val 28463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 dirty="0" smtClean="0"/>
              <a:t>排线组件</a:t>
            </a:r>
            <a:endParaRPr lang="zh-CN" sz="1200" b="1" dirty="0" smtClean="0"/>
          </a:p>
        </p:txBody>
      </p:sp>
      <p:sp>
        <p:nvSpPr>
          <p:cNvPr id="15" name="圆角矩形标注 14"/>
          <p:cNvSpPr/>
          <p:nvPr>
            <p:custDataLst>
              <p:tags r:id="rId6"/>
            </p:custDataLst>
          </p:nvPr>
        </p:nvSpPr>
        <p:spPr>
          <a:xfrm>
            <a:off x="4211869" y="1196975"/>
            <a:ext cx="1296298" cy="424497"/>
          </a:xfrm>
          <a:prstGeom prst="wedgeRoundRectCallout">
            <a:avLst>
              <a:gd name="adj1" fmla="val 70511"/>
              <a:gd name="adj2" fmla="val 32457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 dirty="0" smtClean="0"/>
              <a:t>绕线针杆支架</a:t>
            </a:r>
            <a:endParaRPr lang="zh-CN" sz="1200" b="1" dirty="0" smtClean="0"/>
          </a:p>
        </p:txBody>
      </p:sp>
      <p:sp>
        <p:nvSpPr>
          <p:cNvPr id="17" name="圆角矩形标注 16"/>
          <p:cNvSpPr/>
          <p:nvPr>
            <p:custDataLst>
              <p:tags r:id="rId7"/>
            </p:custDataLst>
          </p:nvPr>
        </p:nvSpPr>
        <p:spPr>
          <a:xfrm>
            <a:off x="4283710" y="5229225"/>
            <a:ext cx="965835" cy="424180"/>
          </a:xfrm>
          <a:prstGeom prst="wedgeRoundRectCallout">
            <a:avLst>
              <a:gd name="adj1" fmla="val 127718"/>
              <a:gd name="adj2" fmla="val -3502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 dirty="0" smtClean="0"/>
              <a:t>分度电机</a:t>
            </a:r>
            <a:endParaRPr lang="zh-CN" sz="1200" b="1" dirty="0" smtClean="0"/>
          </a:p>
        </p:txBody>
      </p:sp>
      <p:sp>
        <p:nvSpPr>
          <p:cNvPr id="3" name="圆角矩形标注 2"/>
          <p:cNvSpPr/>
          <p:nvPr>
            <p:custDataLst>
              <p:tags r:id="rId8"/>
            </p:custDataLst>
          </p:nvPr>
        </p:nvSpPr>
        <p:spPr>
          <a:xfrm>
            <a:off x="6443894" y="2204720"/>
            <a:ext cx="1296298" cy="424497"/>
          </a:xfrm>
          <a:prstGeom prst="wedgeRoundRectCallout">
            <a:avLst>
              <a:gd name="adj1" fmla="val -102016"/>
              <a:gd name="adj2" fmla="val 18664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 dirty="0" smtClean="0"/>
              <a:t>绕线针杆</a:t>
            </a:r>
            <a:endParaRPr lang="zh-CN" sz="1200" b="1" dirty="0" smtClean="0"/>
          </a:p>
        </p:txBody>
      </p:sp>
      <p:sp>
        <p:nvSpPr>
          <p:cNvPr id="7" name="圆角矩形标注 6"/>
          <p:cNvSpPr/>
          <p:nvPr>
            <p:custDataLst>
              <p:tags r:id="rId9"/>
            </p:custDataLst>
          </p:nvPr>
        </p:nvSpPr>
        <p:spPr>
          <a:xfrm>
            <a:off x="6701704" y="3429000"/>
            <a:ext cx="1296298" cy="424497"/>
          </a:xfrm>
          <a:prstGeom prst="wedgeRoundRectCallout">
            <a:avLst>
              <a:gd name="adj1" fmla="val -102016"/>
              <a:gd name="adj2" fmla="val 18664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 dirty="0" smtClean="0"/>
              <a:t>绕线针嘴</a:t>
            </a:r>
            <a:endParaRPr lang="zh-CN" sz="1200" b="1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1341120"/>
            <a:ext cx="5235575" cy="4137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五、各部分介绍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5.1.0 </a:t>
            </a:r>
            <a:r>
              <a:rPr lang="zh-CN" altLang="en-US" b="1" dirty="0" smtClean="0">
                <a:latin typeface="+mj-lt"/>
              </a:rPr>
              <a:t>绕线工装部分</a:t>
            </a:r>
            <a:endParaRPr lang="zh-CN" altLang="en-US" dirty="0"/>
          </a:p>
        </p:txBody>
      </p:sp>
      <p:sp>
        <p:nvSpPr>
          <p:cNvPr id="13" name="圆角矩形标注 12"/>
          <p:cNvSpPr/>
          <p:nvPr/>
        </p:nvSpPr>
        <p:spPr>
          <a:xfrm>
            <a:off x="454025" y="4236085"/>
            <a:ext cx="1099185" cy="579120"/>
          </a:xfrm>
          <a:prstGeom prst="wedgeRoundRectCallout">
            <a:avLst>
              <a:gd name="adj1" fmla="val 139343"/>
              <a:gd name="adj2" fmla="val -6797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内夹紧模</a:t>
            </a:r>
            <a:endParaRPr lang="zh-CN" altLang="en-US" sz="1200" b="1" dirty="0" smtClean="0"/>
          </a:p>
        </p:txBody>
      </p:sp>
      <p:sp>
        <p:nvSpPr>
          <p:cNvPr id="11" name="圆角矩形标注 10"/>
          <p:cNvSpPr/>
          <p:nvPr/>
        </p:nvSpPr>
        <p:spPr>
          <a:xfrm>
            <a:off x="3420110" y="599440"/>
            <a:ext cx="935990" cy="594360"/>
          </a:xfrm>
          <a:prstGeom prst="wedgeRoundRectCallout">
            <a:avLst>
              <a:gd name="adj1" fmla="val 19402"/>
              <a:gd name="adj2" fmla="val 22361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产品（实际以客户为准）</a:t>
            </a:r>
            <a:endParaRPr lang="zh-CN" altLang="en-US" sz="1200" b="1" dirty="0" smtClean="0"/>
          </a:p>
        </p:txBody>
      </p:sp>
      <p:sp>
        <p:nvSpPr>
          <p:cNvPr id="17" name="圆角矩形标注 16"/>
          <p:cNvSpPr/>
          <p:nvPr/>
        </p:nvSpPr>
        <p:spPr>
          <a:xfrm>
            <a:off x="547370" y="1544320"/>
            <a:ext cx="1061085" cy="363220"/>
          </a:xfrm>
          <a:prstGeom prst="wedgeRoundRectCallout">
            <a:avLst>
              <a:gd name="adj1" fmla="val 127917"/>
              <a:gd name="adj2" fmla="val 221853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限位片</a:t>
            </a:r>
            <a:endParaRPr lang="zh-CN" altLang="en-US" sz="12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395605" y="6093460"/>
            <a:ext cx="800163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通过人工把产品放入主体工装里，人工取线，按下启动按钮内模抱住产品，针嘴进入开始绕线</a:t>
            </a:r>
            <a:endParaRPr lang="zh-CN" altLang="en-US" sz="1400"/>
          </a:p>
        </p:txBody>
      </p:sp>
      <p:sp>
        <p:nvSpPr>
          <p:cNvPr id="16" name="圆角矩形标注 15"/>
          <p:cNvSpPr/>
          <p:nvPr/>
        </p:nvSpPr>
        <p:spPr>
          <a:xfrm>
            <a:off x="5940425" y="4437380"/>
            <a:ext cx="792480" cy="363220"/>
          </a:xfrm>
          <a:prstGeom prst="wedgeRoundRectCallout">
            <a:avLst>
              <a:gd name="adj1" fmla="val -139663"/>
              <a:gd name="adj2" fmla="val -25874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 smtClean="0"/>
              <a:t>外模</a:t>
            </a:r>
            <a:endParaRPr lang="zh-CN" altLang="en-US" sz="1200" b="1" dirty="0" smtClean="0"/>
          </a:p>
        </p:txBody>
      </p:sp>
      <p:sp>
        <p:nvSpPr>
          <p:cNvPr id="4" name="圆角矩形标注 3"/>
          <p:cNvSpPr/>
          <p:nvPr/>
        </p:nvSpPr>
        <p:spPr>
          <a:xfrm>
            <a:off x="6804025" y="3357245"/>
            <a:ext cx="792480" cy="363220"/>
          </a:xfrm>
          <a:prstGeom prst="wedgeRoundRectCallout">
            <a:avLst>
              <a:gd name="adj1" fmla="val -139663"/>
              <a:gd name="adj2" fmla="val -25874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 smtClean="0"/>
              <a:t>过线圈</a:t>
            </a:r>
            <a:endParaRPr lang="zh-CN" altLang="en-US" sz="1200" b="1" dirty="0" smtClean="0"/>
          </a:p>
        </p:txBody>
      </p:sp>
      <p:sp>
        <p:nvSpPr>
          <p:cNvPr id="7" name="圆角矩形标注 6"/>
          <p:cNvSpPr/>
          <p:nvPr/>
        </p:nvSpPr>
        <p:spPr>
          <a:xfrm>
            <a:off x="6948170" y="2421255"/>
            <a:ext cx="792480" cy="363220"/>
          </a:xfrm>
          <a:prstGeom prst="wedgeRoundRectCallout">
            <a:avLst>
              <a:gd name="adj1" fmla="val -167227"/>
              <a:gd name="adj2" fmla="val -17220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 smtClean="0"/>
              <a:t>挂线柱</a:t>
            </a:r>
            <a:endParaRPr lang="zh-CN" altLang="en-US" sz="1200" b="1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204720"/>
            <a:ext cx="7044690" cy="2796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五、各部分介绍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5.2.0 X</a:t>
            </a:r>
            <a:r>
              <a:rPr lang="zh-CN" altLang="en-US" b="1" dirty="0" smtClean="0">
                <a:latin typeface="+mj-lt"/>
              </a:rPr>
              <a:t>轴移动部分</a:t>
            </a:r>
            <a:endParaRPr lang="zh-CN" altLang="en-US" dirty="0"/>
          </a:p>
        </p:txBody>
      </p:sp>
      <p:sp>
        <p:nvSpPr>
          <p:cNvPr id="11" name="圆角矩形标注 10"/>
          <p:cNvSpPr/>
          <p:nvPr/>
        </p:nvSpPr>
        <p:spPr>
          <a:xfrm>
            <a:off x="5507990" y="2132965"/>
            <a:ext cx="1336675" cy="491490"/>
          </a:xfrm>
          <a:prstGeom prst="wedgeRoundRectCallout">
            <a:avLst>
              <a:gd name="adj1" fmla="val -68859"/>
              <a:gd name="adj2" fmla="val 26098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横向滚珠丝杠</a:t>
            </a:r>
            <a:endParaRPr lang="zh-CN" altLang="en-US" sz="1200" b="1" dirty="0"/>
          </a:p>
        </p:txBody>
      </p:sp>
      <p:sp>
        <p:nvSpPr>
          <p:cNvPr id="21" name="圆角矩形标注 20"/>
          <p:cNvSpPr/>
          <p:nvPr/>
        </p:nvSpPr>
        <p:spPr>
          <a:xfrm>
            <a:off x="971826" y="5445209"/>
            <a:ext cx="1296144" cy="457158"/>
          </a:xfrm>
          <a:prstGeom prst="wedgeRoundRectCallout">
            <a:avLst>
              <a:gd name="adj1" fmla="val -50413"/>
              <a:gd name="adj2" fmla="val -452416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伺服电机</a:t>
            </a:r>
            <a:endParaRPr lang="zh-CN" altLang="en-US" sz="1200" b="1" dirty="0" smtClean="0"/>
          </a:p>
        </p:txBody>
      </p:sp>
      <p:sp>
        <p:nvSpPr>
          <p:cNvPr id="22" name="圆角矩形标注 21"/>
          <p:cNvSpPr/>
          <p:nvPr/>
        </p:nvSpPr>
        <p:spPr>
          <a:xfrm>
            <a:off x="2699899" y="1340942"/>
            <a:ext cx="1572861" cy="593997"/>
          </a:xfrm>
          <a:prstGeom prst="wedgeRoundRectCallout">
            <a:avLst>
              <a:gd name="adj1" fmla="val -7332"/>
              <a:gd name="adj2" fmla="val 25382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 b="1" dirty="0"/>
              <a:t>X</a:t>
            </a:r>
            <a:r>
              <a:rPr lang="zh-CN" altLang="en-US" sz="1200" b="1" dirty="0"/>
              <a:t>轴运动板</a:t>
            </a:r>
            <a:endParaRPr lang="zh-CN" altLang="en-US" sz="1200" b="1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6733540" y="2348865"/>
            <a:ext cx="2313940" cy="259524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"/>
            </a:pPr>
            <a:r>
              <a:rPr lang="en-US" altLang="zh-CN" sz="2000" b="1" kern="100" dirty="0">
                <a:latin typeface="宋体" panose="02010600030101010101" pitchFamily="2" charset="-122"/>
              </a:rPr>
              <a:t>X</a:t>
            </a:r>
            <a:r>
              <a:rPr lang="zh-CN" altLang="en-US" sz="2000" b="1" kern="100" dirty="0">
                <a:latin typeface="宋体" panose="02010600030101010101" pitchFamily="2" charset="-122"/>
              </a:rPr>
              <a:t>轴移动采用：伺服电机</a:t>
            </a:r>
            <a:r>
              <a:rPr lang="en-US" altLang="zh-CN" sz="2000" b="1" kern="100" dirty="0">
                <a:latin typeface="宋体" panose="02010600030101010101" pitchFamily="2" charset="-122"/>
              </a:rPr>
              <a:t>+</a:t>
            </a:r>
            <a:r>
              <a:rPr lang="zh-CN" altLang="en-US" sz="2000" b="1" kern="100" dirty="0">
                <a:latin typeface="宋体" panose="02010600030101010101" pitchFamily="2" charset="-122"/>
              </a:rPr>
              <a:t>进口</a:t>
            </a:r>
            <a:r>
              <a:rPr lang="en-US" altLang="zh-CN" sz="2000" b="1" kern="100" dirty="0">
                <a:latin typeface="宋体" panose="02010600030101010101" pitchFamily="2" charset="-122"/>
              </a:rPr>
              <a:t>TBI</a:t>
            </a:r>
            <a:r>
              <a:rPr lang="zh-CN" altLang="en-US" sz="2000" b="1" kern="100" dirty="0">
                <a:latin typeface="宋体" panose="02010600030101010101" pitchFamily="2" charset="-122"/>
              </a:rPr>
              <a:t>滚珠丝杆</a:t>
            </a:r>
            <a:r>
              <a:rPr lang="en-US" altLang="zh-CN" sz="2000" b="1" kern="100" dirty="0">
                <a:latin typeface="宋体" panose="02010600030101010101" pitchFamily="2" charset="-122"/>
              </a:rPr>
              <a:t>+</a:t>
            </a:r>
            <a:r>
              <a:rPr lang="zh-CN" altLang="en-US" sz="2000" b="1" kern="100" dirty="0">
                <a:latin typeface="宋体" panose="02010600030101010101" pitchFamily="2" charset="-122"/>
              </a:rPr>
              <a:t>进口</a:t>
            </a:r>
            <a:r>
              <a:rPr lang="en-US" altLang="zh-CN" sz="2000" b="1" kern="100" dirty="0">
                <a:latin typeface="宋体" panose="02010600030101010101" pitchFamily="2" charset="-122"/>
              </a:rPr>
              <a:t>SLM</a:t>
            </a:r>
            <a:r>
              <a:rPr lang="zh-CN" altLang="en-US" sz="2000" b="1" kern="100" dirty="0">
                <a:latin typeface="宋体" panose="02010600030101010101" pitchFamily="2" charset="-122"/>
              </a:rPr>
              <a:t>直线导轨结构，精度高，寿命长，噪音低，且移动过程中平稳可靠</a:t>
            </a:r>
            <a:r>
              <a:rPr lang="zh-CN" altLang="en-US" sz="1200" b="1" kern="100" dirty="0">
                <a:latin typeface="宋体" panose="02010600030101010101" pitchFamily="2" charset="-122"/>
              </a:rPr>
              <a:t>；</a:t>
            </a:r>
            <a:endParaRPr lang="zh-CN" altLang="en-US" sz="1200" kern="100" dirty="0">
              <a:latin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"/>
            </a:pPr>
            <a:endParaRPr lang="zh-CN" altLang="en-US" sz="1200" kern="100" dirty="0"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404495"/>
            <a:ext cx="3853815" cy="53041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五、各</a:t>
            </a:r>
            <a:r>
              <a:rPr lang="zh-CN" altLang="en-US" b="1" dirty="0" smtClean="0">
                <a:latin typeface="+mj-lt"/>
                <a:sym typeface="+mn-ea"/>
              </a:rPr>
              <a:t>部分</a:t>
            </a:r>
            <a:r>
              <a:rPr lang="zh-CN" altLang="en-US" b="1" dirty="0" smtClean="0">
                <a:latin typeface="+mj-lt"/>
              </a:rPr>
              <a:t>介绍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5.3.1 </a:t>
            </a:r>
            <a:r>
              <a:rPr lang="zh-CN" altLang="en-US" b="1" dirty="0" smtClean="0">
                <a:latin typeface="+mj-lt"/>
              </a:rPr>
              <a:t>主轴部分</a:t>
            </a:r>
            <a:r>
              <a:rPr lang="en-US" altLang="zh-CN" b="1" dirty="0" smtClean="0">
                <a:latin typeface="+mj-lt"/>
              </a:rPr>
              <a:t>-</a:t>
            </a:r>
            <a:r>
              <a:rPr lang="zh-CN" altLang="en-US" b="1" dirty="0" smtClean="0">
                <a:latin typeface="+mj-lt"/>
              </a:rPr>
              <a:t>绕</a:t>
            </a:r>
            <a:r>
              <a:rPr lang="zh-CN" altLang="en-US" b="1" dirty="0" smtClean="0">
                <a:latin typeface="+mj-lt"/>
              </a:rPr>
              <a:t>线</a:t>
            </a:r>
            <a:endParaRPr lang="zh-CN" altLang="en-US" dirty="0"/>
          </a:p>
        </p:txBody>
      </p:sp>
      <p:sp>
        <p:nvSpPr>
          <p:cNvPr id="12" name="圆角矩形标注 11"/>
          <p:cNvSpPr/>
          <p:nvPr/>
        </p:nvSpPr>
        <p:spPr>
          <a:xfrm>
            <a:off x="7668260" y="3068955"/>
            <a:ext cx="1311910" cy="488950"/>
          </a:xfrm>
          <a:prstGeom prst="wedgeRoundRectCallout">
            <a:avLst>
              <a:gd name="adj1" fmla="val -156389"/>
              <a:gd name="adj2" fmla="val 22948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绕线针杆</a:t>
            </a:r>
            <a:endParaRPr lang="zh-CN" altLang="en-US" sz="1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51460" y="5805170"/>
            <a:ext cx="8463280" cy="899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kern="100" dirty="0">
                <a:latin typeface="宋体" panose="02010600030101010101" pitchFamily="2" charset="-122"/>
                <a:sym typeface="+mn-ea"/>
              </a:rPr>
              <a:t>绕线</a:t>
            </a:r>
            <a:r>
              <a:rPr lang="en-US" altLang="zh-CN" b="1" kern="100" dirty="0">
                <a:latin typeface="宋体" panose="02010600030101010101" pitchFamily="2" charset="-122"/>
                <a:sym typeface="+mn-ea"/>
              </a:rPr>
              <a:t>Z</a:t>
            </a:r>
            <a:r>
              <a:rPr lang="zh-CN" altLang="en-US" b="1" kern="100" dirty="0">
                <a:latin typeface="宋体" panose="02010600030101010101" pitchFamily="2" charset="-122"/>
                <a:sym typeface="+mn-ea"/>
              </a:rPr>
              <a:t>轴移动采用：伺服电机</a:t>
            </a:r>
            <a:r>
              <a:rPr lang="en-US" altLang="zh-CN" b="1" kern="100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b="1" kern="100" dirty="0">
                <a:latin typeface="宋体" panose="02010600030101010101" pitchFamily="2" charset="-122"/>
                <a:sym typeface="+mn-ea"/>
              </a:rPr>
              <a:t>进口</a:t>
            </a:r>
            <a:r>
              <a:rPr lang="en-US" altLang="zh-CN" b="1" kern="100" dirty="0">
                <a:latin typeface="宋体" panose="02010600030101010101" pitchFamily="2" charset="-122"/>
                <a:sym typeface="+mn-ea"/>
              </a:rPr>
              <a:t>TBI</a:t>
            </a:r>
            <a:r>
              <a:rPr lang="zh-CN" altLang="en-US" b="1" kern="100" dirty="0">
                <a:latin typeface="宋体" panose="02010600030101010101" pitchFamily="2" charset="-122"/>
                <a:sym typeface="+mn-ea"/>
              </a:rPr>
              <a:t>滚珠丝杆</a:t>
            </a:r>
            <a:r>
              <a:rPr lang="en-US" altLang="zh-CN" b="1" kern="100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b="1" kern="100" dirty="0">
                <a:latin typeface="宋体" panose="02010600030101010101" pitchFamily="2" charset="-122"/>
                <a:sym typeface="+mn-ea"/>
              </a:rPr>
              <a:t>进口</a:t>
            </a:r>
            <a:r>
              <a:rPr lang="en-US" altLang="zh-CN" b="1" kern="100" dirty="0">
                <a:latin typeface="宋体" panose="02010600030101010101" pitchFamily="2" charset="-122"/>
                <a:sym typeface="+mn-ea"/>
              </a:rPr>
              <a:t>SLM</a:t>
            </a:r>
            <a:r>
              <a:rPr lang="zh-CN" altLang="en-US" b="1" kern="100" dirty="0">
                <a:latin typeface="宋体" panose="02010600030101010101" pitchFamily="2" charset="-122"/>
                <a:sym typeface="+mn-ea"/>
              </a:rPr>
              <a:t>直线导轨结构，精度高，寿命长，噪音低，且绕线过程中平稳可靠</a:t>
            </a:r>
            <a:endParaRPr lang="zh-CN" altLang="en-US" kern="100" dirty="0">
              <a:effectLst/>
              <a:latin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6516370" y="836930"/>
            <a:ext cx="1581150" cy="490855"/>
          </a:xfrm>
          <a:prstGeom prst="wedgeRoundRectCallout">
            <a:avLst>
              <a:gd name="adj1" fmla="val -180923"/>
              <a:gd name="adj2" fmla="val 6474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/>
              <a:t>绕线伺服电机</a:t>
            </a:r>
            <a:endParaRPr lang="zh-CN" altLang="en-US" sz="1200" b="1" dirty="0"/>
          </a:p>
        </p:txBody>
      </p:sp>
      <p:sp>
        <p:nvSpPr>
          <p:cNvPr id="4" name="圆角矩形标注 3"/>
          <p:cNvSpPr/>
          <p:nvPr/>
        </p:nvSpPr>
        <p:spPr>
          <a:xfrm>
            <a:off x="7668260" y="3933190"/>
            <a:ext cx="1311910" cy="488950"/>
          </a:xfrm>
          <a:prstGeom prst="wedgeRoundRectCallout">
            <a:avLst>
              <a:gd name="adj1" fmla="val -166408"/>
              <a:gd name="adj2" fmla="val 10077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/>
              <a:t>绕线针嘴</a:t>
            </a:r>
            <a:endParaRPr lang="zh-CN" altLang="en-US" sz="1200" b="1" dirty="0"/>
          </a:p>
        </p:txBody>
      </p:sp>
      <p:sp>
        <p:nvSpPr>
          <p:cNvPr id="8" name="圆角矩形标注 7"/>
          <p:cNvSpPr/>
          <p:nvPr/>
        </p:nvSpPr>
        <p:spPr>
          <a:xfrm>
            <a:off x="6588125" y="1610995"/>
            <a:ext cx="1080135" cy="364490"/>
          </a:xfrm>
          <a:prstGeom prst="wedgeRoundRectCallout">
            <a:avLst>
              <a:gd name="adj1" fmla="val -240593"/>
              <a:gd name="adj2" fmla="val 36236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 dirty="0"/>
              <a:t>滚珠丝杆</a:t>
            </a:r>
            <a:endParaRPr lang="zh-CN" altLang="en-US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六、设备基本参数与配置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6.1.0 </a:t>
            </a:r>
            <a:r>
              <a:rPr lang="zh-CN" altLang="en-US" b="1" dirty="0" smtClean="0">
                <a:latin typeface="+mj-lt"/>
              </a:rPr>
              <a:t>技术参数</a:t>
            </a:r>
            <a:endParaRPr lang="en-US" altLang="zh-CN" b="1" dirty="0" smtClean="0">
              <a:latin typeface="+mj-lt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838835" y="1367155"/>
          <a:ext cx="7693660" cy="4704080"/>
        </p:xfrm>
        <a:graphic>
          <a:graphicData uri="http://schemas.openxmlformats.org/drawingml/2006/table">
            <a:tbl>
              <a:tblPr/>
              <a:tblGrid>
                <a:gridCol w="1447165"/>
                <a:gridCol w="1924685"/>
                <a:gridCol w="1970405"/>
                <a:gridCol w="2351405"/>
              </a:tblGrid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项目名称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1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技术参数</a:t>
                      </a:r>
                      <a:endParaRPr lang="zh-CN" altLang="en-US" sz="1400" b="1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项目名称</a:t>
                      </a:r>
                      <a:endParaRPr lang="zh-CN" altLang="en-US" sz="1400" b="1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技术参数</a:t>
                      </a:r>
                      <a:endParaRPr lang="zh-CN" altLang="en-US" sz="1400" b="1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股数与适绕线径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 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单股：￠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0.3-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￠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1.2mm</a:t>
                      </a:r>
                      <a:endParaRPr lang="en-US" altLang="zh-CN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多股：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≤0.6mm*6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股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定子槽数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3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、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6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、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9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、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12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、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18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、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24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、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36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等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strike="noStrike" kern="1200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定子直径</a:t>
                      </a:r>
                      <a:endParaRPr 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≤130MM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线圈匝数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0-9999</a:t>
                      </a:r>
                      <a:endParaRPr lang="en-US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8615"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sym typeface="+mn-ea"/>
                        </a:rPr>
                        <a:t>定子内径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≥20mm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绕线主轴转速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0-250rpm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8615"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定子叠高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10mm-80mm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气源压力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5-7kg/cm2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整机功率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6.5kw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电源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AC380V 50/60Hz(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三相五线</a:t>
                      </a: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)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毛重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 610KG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体积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1400*1600*1900mm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345">
                <a:tc gridSpan="4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随机出厂配置清单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序号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物品名称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型号规格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数量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400" b="0" strike="noStrike" kern="1200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400" b="0" strike="noStrike" kern="1200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钨钢针（易损件）</a:t>
                      </a:r>
                      <a:endParaRPr 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根据铁芯定制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sym typeface="+mn-ea"/>
                        </a:rPr>
                        <a:t>2</a:t>
                      </a:r>
                      <a:r>
                        <a:rPr lang="zh-CN" altLang="en-US" sz="14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sym typeface="+mn-ea"/>
                        </a:rPr>
                        <a:t>支</a:t>
                      </a:r>
                      <a:endParaRPr lang="en-US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400" b="0" strike="noStrike" kern="1200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altLang="zh-CN" sz="1400" b="0" strike="noStrike" kern="1200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配机模具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套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altLang="zh-CN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工具箱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套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altLang="zh-CN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分度传动皮带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8M</a:t>
                      </a:r>
                      <a:endParaRPr lang="en-US" altLang="zh-CN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1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条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六、设备基本参数与品牌配置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6.1.1 </a:t>
            </a:r>
            <a:r>
              <a:rPr lang="zh-CN" altLang="en-US" b="1" dirty="0">
                <a:latin typeface="+mj-lt"/>
              </a:rPr>
              <a:t>设备主要配置</a:t>
            </a:r>
            <a:endParaRPr lang="en-US" altLang="zh-CN" b="1" dirty="0" smtClean="0">
              <a:latin typeface="+mj-lt"/>
            </a:endParaRPr>
          </a:p>
        </p:txBody>
      </p:sp>
      <p:graphicFrame>
        <p:nvGraphicFramePr>
          <p:cNvPr id="18" name="Table 1"/>
          <p:cNvGraphicFramePr/>
          <p:nvPr>
            <p:custDataLst>
              <p:tags r:id="rId1"/>
            </p:custDataLst>
          </p:nvPr>
        </p:nvGraphicFramePr>
        <p:xfrm>
          <a:off x="697230" y="1363980"/>
          <a:ext cx="7762875" cy="3970020"/>
        </p:xfrm>
        <a:graphic>
          <a:graphicData uri="http://schemas.openxmlformats.org/drawingml/2006/table">
            <a:tbl>
              <a:tblPr/>
              <a:tblGrid>
                <a:gridCol w="1226820"/>
                <a:gridCol w="2504440"/>
                <a:gridCol w="418465"/>
                <a:gridCol w="1388745"/>
                <a:gridCol w="2224405"/>
              </a:tblGrid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1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lt"/>
                        </a:rPr>
                        <a:t>驱动系统</a:t>
                      </a:r>
                      <a:endParaRPr lang="zh-CN" altLang="en-US" sz="1400" b="1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</a:rPr>
                        <a:t>控制系统</a:t>
                      </a:r>
                      <a:endParaRPr lang="zh-CN" altLang="en-US" sz="1400" b="1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</a:endParaRPr>
                    </a:p>
                  </a:txBody>
                  <a:tcPr marL="20880" marR="2088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设计板块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标准配置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设计板块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配置标准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绕线主轴动力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台湾亿图伺服电机</a:t>
                      </a: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1.8KW</a:t>
                      </a:r>
                      <a:endParaRPr lang="en-US" alt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控制系统</a:t>
                      </a:r>
                      <a:endParaRPr lang="zh-CN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台湾亿图</a:t>
                      </a:r>
                      <a:r>
                        <a:rPr lang="en-US" alt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A6</a:t>
                      </a:r>
                      <a:r>
                        <a:rPr lang="zh-CN" altLang="en-US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系统</a:t>
                      </a:r>
                      <a:endParaRPr lang="zh-CN" altLang="en-US" sz="1400" b="0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ea"/>
                          <a:ea typeface="+mn-ea"/>
                          <a:cs typeface="+mn-cs"/>
                        </a:rPr>
                        <a:t>排线动力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sym typeface="+mn-ea"/>
                        </a:rPr>
                        <a:t>台湾亿图</a:t>
                      </a: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ea"/>
                          <a:ea typeface="+mn-ea"/>
                          <a:cs typeface="+mn-cs"/>
                        </a:rPr>
                        <a:t>伺服电机</a:t>
                      </a: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n-ea"/>
                          <a:ea typeface="+mn-ea"/>
                          <a:cs typeface="+mn-cs"/>
                        </a:rPr>
                        <a:t>1.0KW</a:t>
                      </a:r>
                      <a:endParaRPr lang="en-US" altLang="zh-CN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排线控制</a:t>
                      </a:r>
                      <a:endParaRPr 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三轴同步控制单元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分度控制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sym typeface="+mn-ea"/>
                        </a:rPr>
                        <a:t>台湾亿图</a:t>
                      </a: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伺服电机</a:t>
                      </a: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2.9KW</a:t>
                      </a:r>
                      <a:endParaRPr lang="en-US" altLang="zh-CN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显示及操作系统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彩色</a:t>
                      </a: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8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寸界面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工位动作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双工位一体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400" b="0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过线方式</a:t>
                      </a:r>
                      <a:endParaRPr lang="zh-CN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自动过线</a:t>
                      </a: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j-ea"/>
                        </a:rPr>
                        <a:t>自动剪线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同步带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美国盖茨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开关模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自动开关脱模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导轨丝杠</a:t>
                      </a:r>
                      <a:endParaRPr lang="zh-CN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德国</a:t>
                      </a: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SLM</a:t>
                      </a: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导轨</a:t>
                      </a: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台湾</a:t>
                      </a:r>
                      <a:r>
                        <a:rPr lang="en-US" altLang="zh-CN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TBI</a:t>
                      </a:r>
                      <a:r>
                        <a:rPr lang="zh-CN" altLang="en-US" sz="1400" b="0" strike="noStrike" kern="1200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丝杆</a:t>
                      </a:r>
                      <a:endParaRPr lang="zh-CN" altLang="en-US" sz="1400" b="0" strike="noStrike" kern="1200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strike="noStrike" kern="1200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操作按钮</a:t>
                      </a:r>
                      <a:endParaRPr lang="zh-CN" altLang="en-US" sz="1400" b="0" strike="noStrike" kern="1200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kern="1200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  <a:cs typeface="+mn-cs"/>
                        </a:rPr>
                        <a:t>法国施耐德</a:t>
                      </a:r>
                      <a:endParaRPr lang="zh-CN" altLang="en-US" sz="1400" b="0" strike="noStrike" kern="1200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滚珠丝杠</a:t>
                      </a: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直线导轨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排线结构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精密排线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润滑系统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配自动油路</a:t>
                      </a:r>
                      <a:r>
                        <a:rPr lang="en-US" altLang="zh-CN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+mj-ea"/>
                          <a:ea typeface="+mj-ea"/>
                        </a:rPr>
                        <a:t>手压黄油泵</a:t>
                      </a: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 hMerge="1"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4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j-ea"/>
                        <a:ea typeface="+mj-ea"/>
                      </a:endParaRPr>
                    </a:p>
                  </a:txBody>
                  <a:tcPr marL="20880" marR="2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905240" y="30251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七、设备换型说明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7.1.1 </a:t>
            </a:r>
            <a:r>
              <a:rPr lang="zh-CN" altLang="en-US" b="1" dirty="0" smtClean="0">
                <a:latin typeface="+mj-lt"/>
              </a:rPr>
              <a:t>更换定子</a:t>
            </a:r>
            <a:r>
              <a:rPr lang="zh-CN" altLang="en-US" b="1" dirty="0" smtClean="0">
                <a:latin typeface="+mj-lt"/>
              </a:rPr>
              <a:t>时间</a:t>
            </a:r>
            <a:endParaRPr lang="zh-CN" altLang="en-US" b="1" dirty="0" smtClean="0"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9795" y="1341120"/>
            <a:ext cx="7385050" cy="2317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1)人工上下物料</a:t>
            </a:r>
            <a:r>
              <a:rPr lang="zh-CN" altLang="en-US" dirty="0">
                <a:sym typeface="+mn-ea"/>
              </a:rPr>
              <a:t>部分：</a:t>
            </a:r>
            <a:r>
              <a:rPr lang="en-US" altLang="zh-CN" dirty="0" smtClean="0">
                <a:sym typeface="+mn-ea"/>
              </a:rPr>
              <a:t>5</a:t>
            </a:r>
            <a:r>
              <a:rPr lang="en-US" altLang="zh-CN" dirty="0" smtClean="0">
                <a:sym typeface="+mn-ea"/>
              </a:rPr>
              <a:t>min</a:t>
            </a:r>
            <a:endParaRPr lang="en-US" altLang="zh-CN" dirty="0" smtClean="0">
              <a:sym typeface="+mn-ea"/>
            </a:endParaRPr>
          </a:p>
          <a:p>
            <a:endParaRPr lang="en-US" altLang="zh-CN" dirty="0" smtClean="0">
              <a:sym typeface="+mn-ea"/>
            </a:endParaRPr>
          </a:p>
          <a:p>
            <a:r>
              <a:rPr lang="en-US" altLang="zh-CN" dirty="0"/>
              <a:t>2)</a:t>
            </a:r>
            <a:r>
              <a:rPr lang="zh-CN" altLang="en-US" dirty="0"/>
              <a:t>人工取线：</a:t>
            </a:r>
            <a:r>
              <a:rPr lang="en-US" altLang="zh-CN" dirty="0" smtClean="0">
                <a:sym typeface="+mn-ea"/>
              </a:rPr>
              <a:t>1</a:t>
            </a:r>
            <a:r>
              <a:rPr lang="en-US" altLang="zh-CN" dirty="0" smtClean="0">
                <a:sym typeface="+mn-ea"/>
              </a:rPr>
              <a:t>min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最长更换定子时间合计约</a:t>
            </a:r>
            <a:r>
              <a:rPr lang="en-US" altLang="zh-CN" dirty="0">
                <a:sym typeface="+mn-ea"/>
              </a:rPr>
              <a:t>6</a:t>
            </a:r>
            <a:r>
              <a:rPr lang="en-US" altLang="zh-CN" dirty="0" smtClean="0">
                <a:sym typeface="+mn-ea"/>
              </a:rPr>
              <a:t>min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000" y="548680"/>
            <a:ext cx="912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lt"/>
              </a:rPr>
              <a:t>七、设备换型说明</a:t>
            </a:r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7.1.1 </a:t>
            </a:r>
            <a:r>
              <a:rPr lang="zh-CN" altLang="en-US" b="1" dirty="0" smtClean="0">
                <a:latin typeface="+mj-lt"/>
              </a:rPr>
              <a:t>更换模具时间</a:t>
            </a:r>
            <a:endParaRPr lang="zh-CN" altLang="en-US" b="1" dirty="0" smtClean="0"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9795" y="1341120"/>
            <a:ext cx="7385050" cy="2317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1)更换模具</a:t>
            </a:r>
            <a:r>
              <a:rPr lang="zh-CN" altLang="en-US" dirty="0">
                <a:sym typeface="+mn-ea"/>
              </a:rPr>
              <a:t>部分：</a:t>
            </a:r>
            <a:r>
              <a:rPr lang="en-US" altLang="zh-CN" dirty="0" smtClean="0">
                <a:sym typeface="+mn-ea"/>
              </a:rPr>
              <a:t>10</a:t>
            </a:r>
            <a:r>
              <a:rPr lang="en-US" altLang="zh-CN" dirty="0" smtClean="0">
                <a:sym typeface="+mn-ea"/>
              </a:rPr>
              <a:t>min</a:t>
            </a:r>
            <a:endParaRPr lang="en-US" altLang="zh-CN" dirty="0" smtClean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最长更换定子时间合计约</a:t>
            </a:r>
            <a:r>
              <a:rPr lang="en-US" altLang="zh-CN" dirty="0">
                <a:sym typeface="+mn-ea"/>
              </a:rPr>
              <a:t>10</a:t>
            </a:r>
            <a:r>
              <a:rPr lang="en-US" altLang="zh-CN" dirty="0" smtClean="0">
                <a:sym typeface="+mn-ea"/>
              </a:rPr>
              <a:t>min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15920" y="3213100"/>
            <a:ext cx="3048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感谢观看</a:t>
            </a:r>
            <a:endParaRPr lang="zh-CN" altLang="en-US" sz="3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3.xml><?xml version="1.0" encoding="utf-8"?>
<p:tagLst xmlns:p="http://schemas.openxmlformats.org/presentationml/2006/main">
  <p:tag name="KSO_WM_BEAUTIFY_FLAG" val=""/>
  <p:tag name="KSO_WM_DIAGRAM_VIRTUALLY_FRAME" val="{&quot;height&quot;:434.4203149606299,&quot;left&quot;:1.4,&quot;top&quot;:105.57968503937009,&quot;width&quot;:244.59700787401576}"/>
</p:tagLst>
</file>

<file path=ppt/tags/tag4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5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6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7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8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9.xml><?xml version="1.0" encoding="utf-8"?>
<p:tagLst xmlns:p="http://schemas.openxmlformats.org/presentationml/2006/main">
  <p:tag name="KSO_WM_DIAGRAM_VIRTUALLY_FRAME" val="{&quot;height&quot;:434.4203149606299,&quot;left&quot;:1.4,&quot;top&quot;:105.57968503937009,&quot;width&quot;:244.59700787401576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  <p:tag name="TABLE_ENDDRAG_ORIGIN_RECT" val="605*341"/>
  <p:tag name="TABLE_ENDDRAG_RECT" val="66*108*605*341"/>
</p:tagLst>
</file>

<file path=ppt/tags/tag12.xml><?xml version="1.0" encoding="utf-8"?>
<p:tagLst xmlns:p="http://schemas.openxmlformats.org/presentationml/2006/main">
  <p:tag name="KSO_WM_UNIT_TABLE_BEAUTIFY" val="smartTable{f8a14ab2-2e5c-4a33-88ca-84c9dfe6dd09}"/>
  <p:tag name="TABLE_ENDDRAG_ORIGIN_RECT" val="611*274"/>
  <p:tag name="TABLE_ENDDRAG_RECT" val="54*109*611*274"/>
</p:tagLst>
</file>

<file path=ppt/tags/tag13.xml><?xml version="1.0" encoding="utf-8"?>
<p:tagLst xmlns:p="http://schemas.openxmlformats.org/presentationml/2006/main">
  <p:tag name="COMMONDATA" val="eyJoZGlkIjoiYWIwMGJhYjg1YWM1NTc1MjZjNjJjNmQ5Mjg2MWYzMWQifQ=="/>
  <p:tag name="commondata" val="eyJoZGlkIjoiZTAxOTU5ZDFlZDUzY2UyYWI5ZjNiMmRmMjE3MDNjZj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4400" b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1531</Words>
  <Application>WPS 演示</Application>
  <PresentationFormat>全屏显示(4:3)</PresentationFormat>
  <Paragraphs>342</Paragraphs>
  <Slides>14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小马</cp:lastModifiedBy>
  <cp:revision>683</cp:revision>
  <cp:lastPrinted>2021-04-26T01:23:00Z</cp:lastPrinted>
  <dcterms:created xsi:type="dcterms:W3CDTF">2019-12-21T00:31:00Z</dcterms:created>
  <dcterms:modified xsi:type="dcterms:W3CDTF">2025-05-23T05:49:46Z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DEFD85C35A35448A9453AE684F16EA61_12</vt:lpwstr>
  </property>
  <property fmtid="{D5CDD505-2E9C-101B-9397-08002B2CF9AE}" pid="3" name="KSOProductBuildVer">
    <vt:lpwstr>2052-12.1.0.21171</vt:lpwstr>
  </property>
</Properties>
</file>